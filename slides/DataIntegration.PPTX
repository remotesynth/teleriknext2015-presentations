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2" r:id="rId3"/>
    <p:sldId id="279" r:id="rId4"/>
    <p:sldId id="281" r:id="rId5"/>
    <p:sldId id="280" r:id="rId6"/>
    <p:sldId id="282" r:id="rId7"/>
    <p:sldId id="283" r:id="rId8"/>
    <p:sldId id="284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74" r:id="rId21"/>
    <p:sldId id="275" r:id="rId22"/>
    <p:sldId id="278" r:id="rId23"/>
    <p:sldId id="285" r:id="rId24"/>
    <p:sldId id="286" r:id="rId25"/>
    <p:sldId id="273" r:id="rId26"/>
    <p:sldId id="299" r:id="rId2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F3"/>
    <a:srgbClr val="7E8289"/>
    <a:srgbClr val="3C59FD"/>
    <a:srgbClr val="5CE600"/>
    <a:srgbClr val="A6F173"/>
    <a:srgbClr val="21242C"/>
    <a:srgbClr val="95BC47"/>
    <a:srgbClr val="7A9D34"/>
    <a:srgbClr val="95BC46"/>
    <a:srgbClr val="E76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2" autoAdjust="0"/>
    <p:restoredTop sz="84180" autoAdjust="0"/>
  </p:normalViewPr>
  <p:slideViewPr>
    <p:cSldViewPr snapToGrid="0">
      <p:cViewPr varScale="1">
        <p:scale>
          <a:sx n="83" d="100"/>
          <a:sy n="83" d="100"/>
        </p:scale>
        <p:origin x="660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2" d="100"/>
          <a:sy n="102" d="100"/>
        </p:scale>
        <p:origin x="26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01BFF-BBF6-4249-9040-C117011E0510}" type="datetimeFigureOut">
              <a:rPr lang="en-US" smtClean="0"/>
              <a:t>5/6/2015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DE652-20ED-4052-B773-67B8AF436E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62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D712C-FA7F-4E1B-9E5E-10B3EB0BB90B}" type="datetimeFigureOut">
              <a:rPr lang="en-AU" smtClean="0"/>
              <a:t>6/05/2015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DB0C-287D-4F2E-938D-ED685F08E2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6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DB0C-287D-4F2E-938D-ED685F08E22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03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DB0C-287D-4F2E-938D-ED685F08E22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54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>
              <a:latin typeface="FontAwesome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DB0C-287D-4F2E-938D-ED685F08E22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866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>
              <a:latin typeface="FontAwesome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DB0C-287D-4F2E-938D-ED685F08E22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18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79" y="1"/>
            <a:ext cx="9141622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8614" y="2736057"/>
            <a:ext cx="8129586" cy="515210"/>
          </a:xfrm>
        </p:spPr>
        <p:txBody>
          <a:bodyPr anchor="ctr"/>
          <a:lstStyle>
            <a:lvl1pPr algn="l">
              <a:defRPr sz="4500" baseline="0">
                <a:latin typeface="+mj-lt"/>
              </a:defRPr>
            </a:lvl1pPr>
          </a:lstStyle>
          <a:p>
            <a:r>
              <a:rPr lang="en-US" dirty="0" smtClean="0"/>
              <a:t>Edit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614" y="3297257"/>
            <a:ext cx="8129586" cy="334896"/>
          </a:xfrm>
        </p:spPr>
        <p:txBody>
          <a:bodyPr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8614" y="3678144"/>
            <a:ext cx="2068116" cy="292894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5CE600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Speaker</a:t>
            </a:r>
            <a:endParaRPr lang="en-US" dirty="0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338668" y="4887427"/>
            <a:ext cx="2580104" cy="174606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dirty="0" smtClean="0"/>
              <a:t>May 3-5, 2015  |  Boston, Massachusetts USA</a:t>
            </a:r>
            <a:endParaRPr lang="en-US" sz="700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0070" y="766456"/>
            <a:ext cx="1760408" cy="4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01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328614" y="415604"/>
            <a:ext cx="8503920" cy="411480"/>
          </a:xfrm>
          <a:noFill/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      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328613" y="1115170"/>
            <a:ext cx="4120142" cy="3196083"/>
          </a:xfrm>
        </p:spPr>
        <p:txBody>
          <a:bodyPr/>
          <a:lstStyle>
            <a:lvl2pPr marL="137160" indent="137160">
              <a:defRPr/>
            </a:lvl2pPr>
            <a:lvl3pPr marL="274320" indent="137160">
              <a:defRPr/>
            </a:lvl3pPr>
            <a:lvl4pPr marL="411480" indent="137160">
              <a:defRPr/>
            </a:lvl4pPr>
            <a:lvl5pPr marL="548640" indent="137160">
              <a:defRPr/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580575" y="1115170"/>
            <a:ext cx="4120142" cy="3196083"/>
          </a:xfrm>
        </p:spPr>
        <p:txBody>
          <a:bodyPr/>
          <a:lstStyle>
            <a:lvl2pPr marL="137160" indent="137160">
              <a:defRPr/>
            </a:lvl2pPr>
            <a:lvl3pPr marL="274320" indent="137160">
              <a:defRPr/>
            </a:lvl3pPr>
            <a:lvl4pPr marL="411480" indent="137160">
              <a:defRPr/>
            </a:lvl4pPr>
            <a:lvl5pPr marL="548640" indent="137160">
              <a:defRPr/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23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/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328614" y="415604"/>
            <a:ext cx="8503920" cy="411480"/>
          </a:xfrm>
          <a:noFill/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      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328613" y="1115170"/>
            <a:ext cx="8372104" cy="3196083"/>
          </a:xfrm>
        </p:spPr>
        <p:txBody>
          <a:bodyPr/>
          <a:lstStyle>
            <a:lvl2pPr marL="137160" indent="137160">
              <a:defRPr/>
            </a:lvl2pPr>
            <a:lvl3pPr marL="274320" indent="137160">
              <a:defRPr/>
            </a:lvl3pPr>
            <a:lvl4pPr marL="411480" indent="137160">
              <a:defRPr/>
            </a:lvl4pPr>
            <a:lvl5pPr marL="548640" indent="137160">
              <a:defRPr/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05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328614" y="393033"/>
            <a:ext cx="8503920" cy="411480"/>
          </a:xfrm>
          <a:noFill/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350169"/>
            <a:ext cx="8503444" cy="2658666"/>
          </a:xfrm>
        </p:spPr>
        <p:txBody>
          <a:bodyPr/>
          <a:lstStyle>
            <a:lvl2pPr marL="137160" indent="137160">
              <a:defRPr/>
            </a:lvl2pPr>
            <a:lvl3pPr marL="274320" indent="137160">
              <a:defRPr/>
            </a:lvl3pPr>
            <a:lvl4pPr marL="411480" indent="137160">
              <a:defRPr/>
            </a:lvl4pPr>
            <a:lvl5pPr marL="548640" indent="137160">
              <a:defRPr/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07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38C284D6-6A89-4053-9C3F-AFEC50D16960}" type="datetimeFigureOut">
              <a:rPr lang="en-US" smtClean="0"/>
              <a:t>5/6/2015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57220-29F3-45DE-80C9-3B879CBD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92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/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328614" y="393033"/>
            <a:ext cx="8503920" cy="411480"/>
          </a:xfrm>
          <a:noFill/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328613" y="1115170"/>
            <a:ext cx="4120142" cy="3196083"/>
          </a:xfrm>
        </p:spPr>
        <p:txBody>
          <a:bodyPr/>
          <a:lstStyle>
            <a:lvl2pPr marL="685800" indent="-342900">
              <a:buClr>
                <a:srgbClr val="5D6EB3"/>
              </a:buClr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2pPr>
            <a:lvl3pPr marL="942975" indent="-257175">
              <a:buClr>
                <a:srgbClr val="5D6EB3"/>
              </a:buClr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3pPr>
            <a:lvl4pPr marL="1243013" indent="-214313">
              <a:buClr>
                <a:srgbClr val="5D6EB3"/>
              </a:buClr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4pPr>
            <a:lvl5pPr marL="1585913" indent="-214313">
              <a:buClr>
                <a:srgbClr val="5D6EB3"/>
              </a:buClr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4712392" y="1115171"/>
            <a:ext cx="4120142" cy="3196083"/>
          </a:xfrm>
        </p:spPr>
        <p:txBody>
          <a:bodyPr/>
          <a:lstStyle>
            <a:lvl2pPr marL="685800" indent="-342900"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2pPr>
            <a:lvl3pPr marL="942975" indent="-257175"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3pPr>
            <a:lvl4pPr marL="1243013" indent="-214313"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4pPr>
            <a:lvl5pPr marL="1585913" indent="-214313">
              <a:buFont typeface="Wingdings" panose="05000000000000000000" pitchFamily="2" charset="2"/>
              <a:buChar char="§"/>
              <a:defRPr>
                <a:latin typeface="+mj-lt"/>
                <a:ea typeface="Roboto" panose="02000000000000000000" pitchFamily="2" charset="0"/>
              </a:defRPr>
            </a:lvl5pPr>
          </a:lstStyle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751" y="4682625"/>
            <a:ext cx="1327305" cy="21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72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379" y="1"/>
            <a:ext cx="914162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615" y="304138"/>
            <a:ext cx="8408192" cy="963879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dirty="0" smtClean="0"/>
              <a:t>CLICK TO EDIT MASTER SLIDE     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615" y="1526651"/>
            <a:ext cx="8408192" cy="31060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 smtClean="0"/>
              <a:t>Click to edit master slide subtitle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3383" y="4887427"/>
            <a:ext cx="450056" cy="174606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053A7-D5CB-4061-8791-0FEEA70E1B3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9898" y="4662910"/>
            <a:ext cx="1296735" cy="36640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338668" y="4887427"/>
            <a:ext cx="2580104" cy="174606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dirty="0" smtClean="0"/>
              <a:t>May 3-5, 2015  |  Boston, Massachusetts USA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24283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5" r:id="rId2"/>
    <p:sldLayoutId id="2147483689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1"/>
          </a:solidFill>
          <a:latin typeface="+mj-lt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137160" indent="137160" algn="l" defTabSz="68580" rtl="0" eaLnBrk="1" latinLnBrk="0" hangingPunct="1">
        <a:lnSpc>
          <a:spcPct val="90000"/>
        </a:lnSpc>
        <a:spcBef>
          <a:spcPts val="750"/>
        </a:spcBef>
        <a:buClr>
          <a:srgbClr val="5CE600"/>
        </a:buClr>
        <a:buSzPct val="80000"/>
        <a:buFont typeface="Arial" panose="020B0604020202020204" pitchFamily="34" charset="0"/>
        <a:buChar char="•"/>
        <a:defRPr sz="2700" kern="1200" baseline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lvl1pPr>
      <a:lvl2pPr marL="274320" indent="137160" algn="l" defTabSz="685800" rtl="0" eaLnBrk="1" latinLnBrk="0" hangingPunct="1">
        <a:lnSpc>
          <a:spcPct val="90000"/>
        </a:lnSpc>
        <a:spcBef>
          <a:spcPts val="375"/>
        </a:spcBef>
        <a:buClr>
          <a:srgbClr val="5CE600"/>
        </a:buClr>
        <a:buSzPct val="80000"/>
        <a:buFont typeface="Arial" panose="020B0604020202020204" pitchFamily="34" charset="0"/>
        <a:buChar char="•"/>
        <a:tabLst>
          <a:tab pos="226314" algn="l"/>
        </a:tabLst>
        <a:defRPr sz="2100" kern="1200" baseline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lvl2pPr>
      <a:lvl3pPr marL="411480" indent="137160" algn="l" defTabSz="685800" rtl="0" eaLnBrk="1" latinLnBrk="0" hangingPunct="1">
        <a:lnSpc>
          <a:spcPct val="90000"/>
        </a:lnSpc>
        <a:spcBef>
          <a:spcPts val="375"/>
        </a:spcBef>
        <a:buClr>
          <a:srgbClr val="5CE600"/>
        </a:buClr>
        <a:buSzPct val="80000"/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548640" indent="137160" algn="l" defTabSz="685800" rtl="0" eaLnBrk="1" latinLnBrk="0" hangingPunct="1">
        <a:lnSpc>
          <a:spcPct val="90000"/>
        </a:lnSpc>
        <a:spcBef>
          <a:spcPts val="375"/>
        </a:spcBef>
        <a:buClr>
          <a:srgbClr val="5CE600"/>
        </a:buClr>
        <a:buSzPct val="8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685800" indent="137160" algn="l" defTabSz="685800" rtl="0" eaLnBrk="1" latinLnBrk="0" hangingPunct="1">
        <a:lnSpc>
          <a:spcPct val="90000"/>
        </a:lnSpc>
        <a:spcBef>
          <a:spcPts val="375"/>
        </a:spcBef>
        <a:buClr>
          <a:srgbClr val="5CE600"/>
        </a:buClr>
        <a:buSzPct val="8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 cap="all" spc="0" baseline="0">
          <a:solidFill>
            <a:srgbClr val="95BC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next-cleaver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sitefinity.com/dec/track-data---deep-div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next-cleaver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614" y="2415623"/>
            <a:ext cx="8129586" cy="515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Cross-Channel Data Integration with Digital Experience Cloud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Connect data from every channel to provide key marketing insights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780543" cy="292894"/>
          </a:xfrm>
        </p:spPr>
        <p:txBody>
          <a:bodyPr/>
          <a:lstStyle/>
          <a:p>
            <a:r>
              <a:rPr lang="en-US" dirty="0"/>
              <a:t>Radoslav Georgiev, Tim Ahlenius &amp; Seth Cleaver</a:t>
            </a:r>
          </a:p>
        </p:txBody>
      </p:sp>
    </p:spTree>
    <p:extLst>
      <p:ext uri="{BB962C8B-B14F-4D97-AF65-F5344CB8AC3E}">
        <p14:creationId xmlns:p14="http://schemas.microsoft.com/office/powerpoint/2010/main" val="218098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Session Agenda</a:t>
            </a:r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Digital Experience Cloud Objectives</a:t>
            </a:r>
          </a:p>
          <a:p>
            <a:r>
              <a:rPr lang="en-US" dirty="0"/>
              <a:t>The New CMS </a:t>
            </a:r>
            <a:r>
              <a:rPr lang="en-US" dirty="0" smtClean="0"/>
              <a:t>Requirements</a:t>
            </a:r>
          </a:p>
          <a:p>
            <a:r>
              <a:rPr lang="en-AU" dirty="0" smtClean="0"/>
              <a:t>CRM </a:t>
            </a:r>
            <a:r>
              <a:rPr lang="en-AU" dirty="0" smtClean="0"/>
              <a:t>Integration in the Digital Experience Cloud</a:t>
            </a:r>
          </a:p>
          <a:p>
            <a:r>
              <a:rPr lang="en-AU" dirty="0" smtClean="0"/>
              <a:t>Available SDKs</a:t>
            </a:r>
            <a:endParaRPr lang="en-AU" dirty="0"/>
          </a:p>
          <a:p>
            <a:r>
              <a:rPr lang="en-AU" dirty="0" smtClean="0"/>
              <a:t>Using the JavaScript SDK</a:t>
            </a:r>
          </a:p>
          <a:p>
            <a:r>
              <a:rPr lang="en-AU" dirty="0" smtClean="0"/>
              <a:t>Question Time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462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Session Agenda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Session feedback:</a:t>
            </a:r>
          </a:p>
          <a:p>
            <a:pPr indent="0">
              <a:buNone/>
            </a:pPr>
            <a:r>
              <a:rPr lang="en-AU" dirty="0" smtClean="0">
                <a:hlinkClick r:id="rId2"/>
              </a:rPr>
              <a:t>http://bit.ly/next-cleaver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AU" dirty="0" smtClean="0"/>
              <a:t>Twitter</a:t>
            </a:r>
          </a:p>
          <a:p>
            <a:pPr lvl="1"/>
            <a:r>
              <a:rPr lang="en-AU" dirty="0" smtClean="0"/>
              <a:t>@</a:t>
            </a:r>
            <a:r>
              <a:rPr lang="en-AU" dirty="0" err="1" smtClean="0"/>
              <a:t>sethcleaver</a:t>
            </a:r>
            <a:endParaRPr lang="en-AU" dirty="0" smtClean="0"/>
          </a:p>
          <a:p>
            <a:pPr lvl="1"/>
            <a:r>
              <a:rPr lang="en-AU" dirty="0" smtClean="0"/>
              <a:t>@</a:t>
            </a:r>
            <a:r>
              <a:rPr lang="en-AU" dirty="0" err="1" smtClean="0"/>
              <a:t>georgievrado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122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614" y="2415623"/>
            <a:ext cx="8129586" cy="515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Digital Experience Cloud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780543" cy="292894"/>
          </a:xfrm>
        </p:spPr>
        <p:txBody>
          <a:bodyPr/>
          <a:lstStyle/>
          <a:p>
            <a:r>
              <a:rPr lang="en-US" dirty="0" smtClean="0"/>
              <a:t>Seth </a:t>
            </a:r>
            <a:r>
              <a:rPr lang="en-US" dirty="0"/>
              <a:t>Cleaver</a:t>
            </a:r>
          </a:p>
        </p:txBody>
      </p:sp>
    </p:spTree>
    <p:extLst>
      <p:ext uri="{BB962C8B-B14F-4D97-AF65-F5344CB8AC3E}">
        <p14:creationId xmlns:p14="http://schemas.microsoft.com/office/powerpoint/2010/main" val="124788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7549">
            <a:off x="1454728" y="398232"/>
            <a:ext cx="5543550" cy="3711575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2734">
            <a:off x="1919239" y="373911"/>
            <a:ext cx="6071973" cy="371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23" y="163251"/>
            <a:ext cx="6616954" cy="43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5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Channels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214819" y="-374589"/>
            <a:ext cx="712054" cy="1738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  <a:t></a:t>
            </a:r>
          </a:p>
          <a:p>
            <a:pPr algn="ctr"/>
            <a:r>
              <a:rPr lang="en-AU" sz="1100" dirty="0" smtClean="0">
                <a:latin typeface="+mj-lt"/>
              </a:rPr>
              <a:t>APP</a:t>
            </a:r>
            <a:endParaRPr lang="en-AU" sz="11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73855" y="480009"/>
            <a:ext cx="1297150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8000" dirty="0" smtClean="0">
                <a:solidFill>
                  <a:srgbClr val="5CE600"/>
                </a:solidFill>
                <a:latin typeface="FontAwesome" pitchFamily="2" charset="0"/>
              </a:rPr>
              <a:t></a:t>
            </a:r>
          </a:p>
          <a:p>
            <a:pPr algn="ctr"/>
            <a:r>
              <a:rPr lang="en-AU" sz="1100" dirty="0" smtClean="0">
                <a:latin typeface="+mj-lt"/>
              </a:rPr>
              <a:t>CRM / LOYALTY </a:t>
            </a:r>
            <a:br>
              <a:rPr lang="en-AU" sz="1100" dirty="0" smtClean="0">
                <a:latin typeface="+mj-lt"/>
              </a:rPr>
            </a:br>
            <a:r>
              <a:rPr lang="en-AU" sz="1100" dirty="0" smtClean="0">
                <a:latin typeface="+mj-lt"/>
              </a:rPr>
              <a:t>SYSTEMS</a:t>
            </a:r>
            <a:endParaRPr lang="en-AU" sz="11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3122" y="533352"/>
            <a:ext cx="1064715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8000" dirty="0">
                <a:solidFill>
                  <a:srgbClr val="5CE600"/>
                </a:solidFill>
                <a:latin typeface="FontAwesome" pitchFamily="2" charset="0"/>
              </a:rPr>
              <a:t></a:t>
            </a:r>
            <a: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  <a:t/>
            </a:r>
            <a:b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</a:br>
            <a:r>
              <a:rPr lang="en-AU" sz="1100" dirty="0" smtClean="0">
                <a:latin typeface="+mj-lt"/>
              </a:rPr>
              <a:t>SOCIAL</a:t>
            </a:r>
            <a:br>
              <a:rPr lang="en-AU" sz="1100" dirty="0" smtClean="0">
                <a:latin typeface="+mj-lt"/>
              </a:rPr>
            </a:br>
            <a:r>
              <a:rPr lang="en-AU" sz="1100" dirty="0" smtClean="0">
                <a:latin typeface="+mj-lt"/>
              </a:rPr>
              <a:t>MEDIA</a:t>
            </a:r>
            <a:endParaRPr lang="en-AU" sz="1100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08785" y="3301711"/>
            <a:ext cx="1284326" cy="14927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8000" dirty="0" smtClean="0">
                <a:solidFill>
                  <a:srgbClr val="5CE600"/>
                </a:solidFill>
                <a:latin typeface="FontAwesome" pitchFamily="2" charset="0"/>
              </a:rPr>
              <a:t></a:t>
            </a:r>
            <a: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  <a:t/>
            </a:r>
            <a:b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</a:br>
            <a:r>
              <a:rPr lang="en-AU" sz="1100" dirty="0" smtClean="0"/>
              <a:t>WEBSITES</a:t>
            </a:r>
            <a:endParaRPr lang="en-AU" sz="1100" dirty="0"/>
          </a:p>
        </p:txBody>
      </p:sp>
      <p:sp>
        <p:nvSpPr>
          <p:cNvPr id="8" name="Rectangle 7"/>
          <p:cNvSpPr/>
          <p:nvPr/>
        </p:nvSpPr>
        <p:spPr>
          <a:xfrm>
            <a:off x="2154618" y="3301711"/>
            <a:ext cx="1284326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8000" dirty="0" smtClean="0">
                <a:solidFill>
                  <a:srgbClr val="5CE600"/>
                </a:solidFill>
                <a:latin typeface="FontAwesome" pitchFamily="2" charset="0"/>
              </a:rPr>
              <a:t></a:t>
            </a:r>
            <a: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  <a:t/>
            </a:r>
            <a:br>
              <a:rPr lang="en-AU" sz="9600" dirty="0" smtClean="0">
                <a:solidFill>
                  <a:srgbClr val="5CE600"/>
                </a:solidFill>
                <a:latin typeface="FontAwesome" pitchFamily="2" charset="0"/>
              </a:rPr>
            </a:br>
            <a:r>
              <a:rPr lang="en-AU" sz="1100" dirty="0" smtClean="0">
                <a:latin typeface="+mj-lt"/>
              </a:rPr>
              <a:t>MARKETING </a:t>
            </a:r>
          </a:p>
          <a:p>
            <a:pPr algn="ctr"/>
            <a:r>
              <a:rPr lang="en-AU" sz="1100" dirty="0" smtClean="0">
                <a:latin typeface="+mj-lt"/>
              </a:rPr>
              <a:t>AUTOMATION</a:t>
            </a:r>
            <a:endParaRPr lang="en-AU" sz="1100" dirty="0">
              <a:latin typeface="+mj-lt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3261838" y="1364349"/>
            <a:ext cx="2608623" cy="2271388"/>
            <a:chOff x="3261838" y="1364349"/>
            <a:chExt cx="2608623" cy="2271388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261838" y="1680681"/>
              <a:ext cx="2322843" cy="1886812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3463048" y="1599339"/>
              <a:ext cx="2407413" cy="203639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1" idx="0"/>
              <a:endCxn id="4" idx="2"/>
            </p:cNvCxnSpPr>
            <p:nvPr/>
          </p:nvCxnSpPr>
          <p:spPr>
            <a:xfrm flipH="1" flipV="1">
              <a:off x="4570846" y="1364349"/>
              <a:ext cx="1154" cy="23499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3544008" y="1599339"/>
              <a:ext cx="2055984" cy="19448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bg1"/>
                  </a:solidFill>
                </a:rPr>
                <a:t>DIGITAL </a:t>
              </a:r>
            </a:p>
            <a:p>
              <a:pPr algn="ctr"/>
              <a:r>
                <a:rPr lang="en-AU" dirty="0" smtClean="0">
                  <a:solidFill>
                    <a:schemeClr val="bg1"/>
                  </a:solidFill>
                </a:rPr>
                <a:t>EXPERIENCE</a:t>
              </a:r>
              <a:br>
                <a:rPr lang="en-AU" dirty="0" smtClean="0">
                  <a:solidFill>
                    <a:schemeClr val="bg1"/>
                  </a:solidFill>
                </a:rPr>
              </a:br>
              <a:r>
                <a:rPr lang="en-AU" dirty="0" smtClean="0">
                  <a:solidFill>
                    <a:schemeClr val="bg1"/>
                  </a:solidFill>
                </a:rPr>
                <a:t>CLOUD</a:t>
              </a:r>
              <a:endParaRPr lang="en-AU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0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Objectives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1119420" y="2063918"/>
            <a:ext cx="51488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  <a:t>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733" y="2987247"/>
            <a:ext cx="100860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  <a:t>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81" y="1426056"/>
            <a:ext cx="84350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  <a:t></a:t>
            </a:r>
            <a:endParaRPr lang="en-AU" sz="6000" dirty="0"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34080" y="1094422"/>
            <a:ext cx="1008609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  <a:t></a:t>
            </a:r>
            <a:b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</a:br>
            <a:endParaRPr lang="en-AU" sz="6000" dirty="0"/>
          </a:p>
        </p:txBody>
      </p:sp>
      <p:sp>
        <p:nvSpPr>
          <p:cNvPr id="21" name="Rectangle 20"/>
          <p:cNvSpPr/>
          <p:nvPr/>
        </p:nvSpPr>
        <p:spPr>
          <a:xfrm>
            <a:off x="1780340" y="3071110"/>
            <a:ext cx="100860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6000" dirty="0" smtClean="0">
                <a:solidFill>
                  <a:srgbClr val="5CE600"/>
                </a:solidFill>
                <a:latin typeface="FontAwesome" pitchFamily="2" charset="0"/>
              </a:rPr>
              <a:t></a:t>
            </a:r>
            <a:endParaRPr lang="en-AU" sz="6000" dirty="0">
              <a:latin typeface="+mj-l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275548" y="690665"/>
            <a:ext cx="5556986" cy="1193487"/>
            <a:chOff x="3275548" y="690665"/>
            <a:chExt cx="5556986" cy="1193487"/>
          </a:xfrm>
        </p:grpSpPr>
        <p:sp>
          <p:nvSpPr>
            <p:cNvPr id="3" name="Rounded Rectangle 2"/>
            <p:cNvSpPr/>
            <p:nvPr/>
          </p:nvSpPr>
          <p:spPr>
            <a:xfrm>
              <a:off x="5505855" y="690665"/>
              <a:ext cx="3326679" cy="457200"/>
            </a:xfrm>
            <a:prstGeom prst="roundRect">
              <a:avLst/>
            </a:prstGeom>
            <a:solidFill>
              <a:srgbClr val="00BF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/>
                <a:t>Customer Journey Analysis</a:t>
              </a:r>
              <a:endParaRPr lang="en-US" sz="1600" dirty="0"/>
            </a:p>
          </p:txBody>
        </p:sp>
        <p:cxnSp>
          <p:nvCxnSpPr>
            <p:cNvPr id="12" name="Curved Connector 11"/>
            <p:cNvCxnSpPr>
              <a:stCxn id="11" idx="7"/>
              <a:endCxn id="3" idx="1"/>
            </p:cNvCxnSpPr>
            <p:nvPr/>
          </p:nvCxnSpPr>
          <p:spPr>
            <a:xfrm rot="5400000" flipH="1" flipV="1">
              <a:off x="3908258" y="286555"/>
              <a:ext cx="964887" cy="2230308"/>
            </a:xfrm>
            <a:prstGeom prst="curvedConnector2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3275548" y="3259347"/>
            <a:ext cx="5556986" cy="1193488"/>
            <a:chOff x="3275548" y="3259347"/>
            <a:chExt cx="5556986" cy="1193488"/>
          </a:xfrm>
        </p:grpSpPr>
        <p:sp>
          <p:nvSpPr>
            <p:cNvPr id="15" name="Rounded Rectangle 14"/>
            <p:cNvSpPr/>
            <p:nvPr/>
          </p:nvSpPr>
          <p:spPr>
            <a:xfrm>
              <a:off x="5505855" y="3995635"/>
              <a:ext cx="3326679" cy="457200"/>
            </a:xfrm>
            <a:prstGeom prst="roundRect">
              <a:avLst/>
            </a:prstGeom>
            <a:solidFill>
              <a:srgbClr val="00BF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 dirty="0" smtClean="0"/>
                <a:t>Results Measurement</a:t>
              </a:r>
              <a:endParaRPr lang="en-US" sz="1600" dirty="0"/>
            </a:p>
          </p:txBody>
        </p:sp>
        <p:cxnSp>
          <p:nvCxnSpPr>
            <p:cNvPr id="22" name="Curved Connector 21"/>
            <p:cNvCxnSpPr>
              <a:stCxn id="11" idx="5"/>
              <a:endCxn id="15" idx="1"/>
            </p:cNvCxnSpPr>
            <p:nvPr/>
          </p:nvCxnSpPr>
          <p:spPr>
            <a:xfrm rot="16200000" flipH="1">
              <a:off x="3908258" y="2626637"/>
              <a:ext cx="964887" cy="2230308"/>
            </a:xfrm>
            <a:prstGeom prst="curvedConnector2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576639" y="2343150"/>
            <a:ext cx="5255895" cy="457200"/>
            <a:chOff x="3576639" y="2343150"/>
            <a:chExt cx="5255895" cy="457200"/>
          </a:xfrm>
        </p:grpSpPr>
        <p:sp>
          <p:nvSpPr>
            <p:cNvPr id="14" name="Rounded Rectangle 13"/>
            <p:cNvSpPr/>
            <p:nvPr/>
          </p:nvSpPr>
          <p:spPr>
            <a:xfrm>
              <a:off x="5505855" y="2343150"/>
              <a:ext cx="3326679" cy="457200"/>
            </a:xfrm>
            <a:prstGeom prst="roundRect">
              <a:avLst/>
            </a:prstGeom>
            <a:solidFill>
              <a:srgbClr val="00BF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 dirty="0"/>
                <a:t>Customer Journey Optimization</a:t>
              </a:r>
              <a:endParaRPr lang="en-US" sz="2000" dirty="0"/>
            </a:p>
          </p:txBody>
        </p:sp>
        <p:cxnSp>
          <p:nvCxnSpPr>
            <p:cNvPr id="25" name="Curved Connector 24"/>
            <p:cNvCxnSpPr>
              <a:stCxn id="11" idx="6"/>
              <a:endCxn id="14" idx="1"/>
            </p:cNvCxnSpPr>
            <p:nvPr/>
          </p:nvCxnSpPr>
          <p:spPr>
            <a:xfrm>
              <a:off x="3576639" y="2571750"/>
              <a:ext cx="1929216" cy="12700"/>
            </a:xfrm>
            <a:prstGeom prst="curved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/>
          <p:cNvSpPr/>
          <p:nvPr/>
        </p:nvSpPr>
        <p:spPr>
          <a:xfrm>
            <a:off x="1520655" y="1599339"/>
            <a:ext cx="2055984" cy="194482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bg1"/>
                </a:solidFill>
              </a:rPr>
              <a:t>DIGITAL </a:t>
            </a:r>
          </a:p>
          <a:p>
            <a:pPr algn="ctr"/>
            <a:r>
              <a:rPr lang="en-AU" dirty="0" smtClean="0">
                <a:solidFill>
                  <a:schemeClr val="bg1"/>
                </a:solidFill>
              </a:rPr>
              <a:t>EXPERIENCE</a:t>
            </a:r>
            <a:br>
              <a:rPr lang="en-AU" dirty="0" smtClean="0">
                <a:solidFill>
                  <a:schemeClr val="bg1"/>
                </a:solidFill>
              </a:rPr>
            </a:br>
            <a:r>
              <a:rPr lang="en-AU" dirty="0" smtClean="0">
                <a:solidFill>
                  <a:schemeClr val="bg1"/>
                </a:solidFill>
              </a:rPr>
              <a:t>CLOUD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614" y="2415623"/>
            <a:ext cx="8129586" cy="515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New CMS Requirements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780543" cy="292894"/>
          </a:xfrm>
        </p:spPr>
        <p:txBody>
          <a:bodyPr/>
          <a:lstStyle/>
          <a:p>
            <a:r>
              <a:rPr lang="en-US" dirty="0" smtClean="0"/>
              <a:t>Tim Ahlenius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5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30144"/>
          </a:xfrm>
        </p:spPr>
        <p:txBody>
          <a:bodyPr>
            <a:normAutofit/>
          </a:bodyPr>
          <a:lstStyle/>
          <a:p>
            <a:pPr indent="0" algn="ctr">
              <a:buNone/>
            </a:pPr>
            <a:endParaRPr lang="en-US" dirty="0" smtClean="0"/>
          </a:p>
          <a:p>
            <a:pPr indent="0" algn="ctr">
              <a:buNone/>
            </a:pPr>
            <a:endParaRPr lang="en-US" dirty="0"/>
          </a:p>
          <a:p>
            <a:pPr indent="0" algn="ctr">
              <a:buNone/>
            </a:pPr>
            <a:r>
              <a:rPr lang="en-US" dirty="0" smtClean="0"/>
              <a:t>“The </a:t>
            </a:r>
            <a:r>
              <a:rPr lang="en-US" dirty="0" err="1" smtClean="0"/>
              <a:t>Sitefinity</a:t>
            </a:r>
            <a:r>
              <a:rPr lang="en-US" dirty="0" smtClean="0"/>
              <a:t> Digital Experience Cloud provides marketers with a digital command center	 that takes the guesswork out of their job.”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1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Personalization Is In All Channels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76622" y="1324865"/>
            <a:ext cx="800100" cy="1311501"/>
            <a:chOff x="523876" y="1796070"/>
            <a:chExt cx="800100" cy="131150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6" y="1796070"/>
              <a:ext cx="800100" cy="8001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27116" y="2799794"/>
              <a:ext cx="5936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Arial"/>
                  <a:cs typeface="Arial"/>
                </a:rPr>
                <a:t>WEB</a:t>
              </a:r>
              <a:endParaRPr lang="en-US" sz="1400" dirty="0" smtClean="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470777" y="1252236"/>
            <a:ext cx="1371639" cy="1311501"/>
            <a:chOff x="5301234" y="1796070"/>
            <a:chExt cx="1371639" cy="131150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7003" y="1796070"/>
              <a:ext cx="800100" cy="8001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301234" y="2799794"/>
              <a:ext cx="13716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1"/>
                  </a:solidFill>
                  <a:latin typeface="Arial"/>
                  <a:cs typeface="Arial"/>
                </a:rPr>
                <a:t>ECOMMERCE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125898" y="2995330"/>
            <a:ext cx="800100" cy="1311501"/>
            <a:chOff x="4491633" y="1796070"/>
            <a:chExt cx="800100" cy="131150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633" y="1796070"/>
              <a:ext cx="800100" cy="800100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530046" y="2799794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1"/>
                  </a:solidFill>
                  <a:latin typeface="Arial"/>
                  <a:cs typeface="Arial"/>
                </a:rPr>
                <a:t>EMAIL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712741" y="2995330"/>
            <a:ext cx="1454244" cy="1311501"/>
            <a:chOff x="1480706" y="1796070"/>
            <a:chExt cx="1454244" cy="131150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7778" y="1796070"/>
              <a:ext cx="800100" cy="8001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480706" y="2799794"/>
              <a:ext cx="1454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1"/>
                  </a:solidFill>
                  <a:latin typeface="Arial"/>
                  <a:cs typeface="Arial"/>
                </a:rPr>
                <a:t>SOCIAL MEDIA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592200" y="1252236"/>
            <a:ext cx="863099" cy="1311501"/>
            <a:chOff x="3194920" y="1796070"/>
            <a:chExt cx="863099" cy="1311501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26419" y="1796070"/>
              <a:ext cx="800100" cy="8001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194920" y="2799794"/>
              <a:ext cx="8630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1"/>
                  </a:solidFill>
                  <a:latin typeface="Arial"/>
                  <a:cs typeface="Arial"/>
                </a:rPr>
                <a:t>MOBILE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84910" y="2995330"/>
            <a:ext cx="800100" cy="1311501"/>
            <a:chOff x="6892809" y="1796070"/>
            <a:chExt cx="800100" cy="1311501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92809" y="1796070"/>
              <a:ext cx="800100" cy="8001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6932844" y="2799794"/>
              <a:ext cx="7200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1"/>
                  </a:solidFill>
                  <a:latin typeface="Arial"/>
                  <a:cs typeface="Arial"/>
                </a:rPr>
                <a:t>PRINT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935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3" name="Picture 22" descr="Screen Shot 2015-02-17 at 2.08.02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6" b="7196"/>
          <a:stretch/>
        </p:blipFill>
        <p:spPr>
          <a:xfrm>
            <a:off x="182881" y="-208472"/>
            <a:ext cx="8149842" cy="48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3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Challenges </a:t>
            </a:r>
            <a:r>
              <a:rPr lang="en-US" b="1" dirty="0"/>
              <a:t>for Digital Marketers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3014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Create a </a:t>
            </a:r>
            <a:r>
              <a:rPr lang="en-US" dirty="0"/>
              <a:t>unique personalized digital </a:t>
            </a:r>
            <a:r>
              <a:rPr lang="en-US" dirty="0" smtClean="0"/>
              <a:t>experience</a:t>
            </a:r>
          </a:p>
          <a:p>
            <a:endParaRPr lang="en-US" dirty="0"/>
          </a:p>
          <a:p>
            <a:r>
              <a:rPr lang="en-US" dirty="0"/>
              <a:t>Big data cannot mean big </a:t>
            </a:r>
            <a:r>
              <a:rPr lang="en-US" dirty="0" smtClean="0"/>
              <a:t>effort (think scattered systems)</a:t>
            </a:r>
          </a:p>
          <a:p>
            <a:endParaRPr lang="en-US" dirty="0"/>
          </a:p>
          <a:p>
            <a:r>
              <a:rPr lang="en-US" dirty="0" smtClean="0"/>
              <a:t>Measuring multi-channel (online &amp; offline) experience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Technology </a:t>
            </a:r>
            <a:r>
              <a:rPr lang="en-US" dirty="0"/>
              <a:t>has to continually learn and recommend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4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 of Personalization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804513"/>
            <a:ext cx="8750300" cy="3771900"/>
          </a:xfrm>
          <a:prstGeom prst="rect">
            <a:avLst/>
          </a:prstGeom>
        </p:spPr>
      </p:pic>
      <p:pic>
        <p:nvPicPr>
          <p:cNvPr id="13" name="Picture 12" descr="Screen Shot 2015-02-18 at 5.49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0" y="1540605"/>
            <a:ext cx="8548414" cy="219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Personalization</a:t>
            </a:r>
            <a:endParaRPr lang="en-US" dirty="0"/>
          </a:p>
        </p:txBody>
      </p:sp>
      <p:pic>
        <p:nvPicPr>
          <p:cNvPr id="5" name="Picture 4" descr="What is Personlization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3"/>
          <a:stretch/>
        </p:blipFill>
        <p:spPr>
          <a:xfrm>
            <a:off x="118710" y="930536"/>
            <a:ext cx="8713824" cy="39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Road to Personalization</a:t>
            </a:r>
            <a:endParaRPr lang="en-US" dirty="0"/>
          </a:p>
        </p:txBody>
      </p:sp>
      <p:pic>
        <p:nvPicPr>
          <p:cNvPr id="5" name="Picture 4" descr="Personas_gener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36" y="1239474"/>
            <a:ext cx="8208235" cy="29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7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Personalization – Bridging the Gap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30144"/>
          </a:xfrm>
        </p:spPr>
        <p:txBody>
          <a:bodyPr>
            <a:normAutofit/>
          </a:bodyPr>
          <a:lstStyle/>
          <a:p>
            <a:r>
              <a:rPr lang="en-US" dirty="0" smtClean="0"/>
              <a:t>Every action on a website can be tracked</a:t>
            </a:r>
          </a:p>
          <a:p>
            <a:r>
              <a:rPr lang="en-US" dirty="0" smtClean="0"/>
              <a:t>It’s all 0’s and 1’s, unless it provides insight</a:t>
            </a:r>
          </a:p>
          <a:p>
            <a:r>
              <a:rPr lang="en-US" dirty="0" smtClean="0"/>
              <a:t>Make the most of each opportunity</a:t>
            </a:r>
            <a:r>
              <a:rPr lang="en-US" dirty="0"/>
              <a:t> </a:t>
            </a:r>
            <a:r>
              <a:rPr lang="en-US" dirty="0" smtClean="0"/>
              <a:t>with Big Data</a:t>
            </a:r>
          </a:p>
          <a:p>
            <a:r>
              <a:rPr lang="en-US" dirty="0" smtClean="0"/>
              <a:t>Automate the delivery of the “Best Next Experience”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488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top 3 recommendations for clients?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30144"/>
          </a:xfrm>
        </p:spPr>
        <p:txBody>
          <a:bodyPr>
            <a:normAutofit/>
          </a:bodyPr>
          <a:lstStyle/>
          <a:p>
            <a:r>
              <a:rPr lang="en-US" dirty="0" smtClean="0"/>
              <a:t>Personalization</a:t>
            </a:r>
          </a:p>
          <a:p>
            <a:r>
              <a:rPr lang="en-US" dirty="0" smtClean="0"/>
              <a:t>Marketing Automation</a:t>
            </a:r>
          </a:p>
          <a:p>
            <a:r>
              <a:rPr lang="en-US" dirty="0" smtClean="0"/>
              <a:t>Predictive Analytics</a:t>
            </a:r>
          </a:p>
          <a:p>
            <a:pPr indent="0">
              <a:buNone/>
            </a:pPr>
            <a:endParaRPr lang="en-US" dirty="0"/>
          </a:p>
        </p:txBody>
      </p:sp>
      <p:pic>
        <p:nvPicPr>
          <p:cNvPr id="4" name="Picture 3" descr="crawl-walk-run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029" b="95011" l="4328" r="95330">
                        <a14:foregroundMark x1="66173" y1="53061" x2="59226" y2="60091"/>
                        <a14:foregroundMark x1="74146" y1="31519" x2="72893" y2="51474"/>
                        <a14:foregroundMark x1="74829" y1="71882" x2="74829" y2="84807"/>
                        <a14:foregroundMark x1="81435" y1="75283" x2="81549" y2="85034"/>
                        <a14:foregroundMark x1="89066" y1="73923" x2="89066" y2="82766"/>
                        <a14:foregroundMark x1="67312" y1="73923" x2="67312" y2="83447"/>
                        <a14:foregroundMark x1="61276" y1="74830" x2="61276" y2="83447"/>
                        <a14:foregroundMark x1="57289" y1="74150" x2="57289" y2="83220"/>
                        <a14:foregroundMark x1="51822" y1="73016" x2="49772" y2="83220"/>
                        <a14:foregroundMark x1="39294" y1="73923" x2="39294" y2="84580"/>
                        <a14:foregroundMark x1="32802" y1="74150" x2="33371" y2="79819"/>
                        <a14:foregroundMark x1="25740" y1="71882" x2="25740" y2="77551"/>
                        <a14:foregroundMark x1="18337" y1="81179" x2="18907" y2="87302"/>
                        <a14:foregroundMark x1="11162" y1="70975" x2="9567" y2="69161"/>
                        <a14:foregroundMark x1="77221" y1="63492" x2="77221" y2="63492"/>
                        <a14:backgroundMark x1="24260" y1="80499" x2="24260" y2="80499"/>
                        <a14:backgroundMark x1="17426" y1="73469" x2="17426" y2="73469"/>
                        <a14:backgroundMark x1="55809" y1="80045" x2="55809" y2="80045"/>
                        <a14:backgroundMark x1="76082" y1="73923" x2="76082" y2="73923"/>
                        <a14:backgroundMark x1="65718" y1="63265" x2="65718" y2="63265"/>
                        <a14:backgroundMark x1="65148" y1="61224" x2="65148" y2="612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93" y="1690589"/>
            <a:ext cx="6035892" cy="30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8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What’s the process to introduce the Digital Experience Cloud?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30144"/>
          </a:xfrm>
        </p:spPr>
        <p:txBody>
          <a:bodyPr>
            <a:normAutofit/>
          </a:bodyPr>
          <a:lstStyle/>
          <a:p>
            <a:pPr marL="651510" indent="-514350">
              <a:buFont typeface="+mj-lt"/>
              <a:buAutoNum type="arabicPeriod"/>
            </a:pPr>
            <a:r>
              <a:rPr lang="en-US" dirty="0" smtClean="0"/>
              <a:t>Starts with a Strategic Mindset</a:t>
            </a:r>
          </a:p>
          <a:p>
            <a:pPr marL="651510" indent="-514350">
              <a:buFont typeface="+mj-lt"/>
              <a:buAutoNum type="arabicPeriod"/>
            </a:pPr>
            <a:r>
              <a:rPr lang="en-US" dirty="0" smtClean="0"/>
              <a:t>Develop an Analytical Foundation</a:t>
            </a:r>
          </a:p>
          <a:p>
            <a:pPr marL="651510" indent="-514350">
              <a:buFont typeface="+mj-lt"/>
              <a:buAutoNum type="arabicPeriod"/>
            </a:pPr>
            <a:r>
              <a:rPr lang="en-US" dirty="0" smtClean="0"/>
              <a:t>Workshops &amp; Stakeholder Interviews</a:t>
            </a:r>
          </a:p>
          <a:p>
            <a:pPr marL="651510" indent="-514350">
              <a:buFont typeface="+mj-lt"/>
              <a:buAutoNum type="arabicPeriod"/>
            </a:pPr>
            <a:r>
              <a:rPr lang="en-US" dirty="0" smtClean="0"/>
              <a:t>DEC Implementation Roadmap</a:t>
            </a:r>
          </a:p>
          <a:p>
            <a:pPr marL="651510" indent="-514350">
              <a:buFont typeface="+mj-lt"/>
              <a:buAutoNum type="arabicPeriod"/>
            </a:pPr>
            <a:r>
              <a:rPr lang="en-US" dirty="0" smtClean="0"/>
              <a:t>Deployment</a:t>
            </a:r>
          </a:p>
          <a:p>
            <a:pPr marL="651510" indent="-514350">
              <a:buFont typeface="+mj-lt"/>
              <a:buAutoNum type="arabicPeriod"/>
            </a:pPr>
            <a:r>
              <a:rPr lang="en-US" dirty="0" smtClean="0"/>
              <a:t>Rinse and Repeat</a:t>
            </a:r>
          </a:p>
        </p:txBody>
      </p:sp>
    </p:spTree>
    <p:extLst>
      <p:ext uri="{BB962C8B-B14F-4D97-AF65-F5344CB8AC3E}">
        <p14:creationId xmlns:p14="http://schemas.microsoft.com/office/powerpoint/2010/main" val="48611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Examples </a:t>
            </a:r>
            <a:r>
              <a:rPr lang="en-US" dirty="0"/>
              <a:t>of the </a:t>
            </a:r>
            <a:r>
              <a:rPr lang="en-US" dirty="0" err="1"/>
              <a:t>Sitefinity</a:t>
            </a:r>
            <a:r>
              <a:rPr lang="en-US" dirty="0"/>
              <a:t> Digital Experience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8613" y="1350169"/>
            <a:ext cx="8503444" cy="3296646"/>
          </a:xfrm>
        </p:spPr>
        <p:txBody>
          <a:bodyPr>
            <a:normAutofit/>
          </a:bodyPr>
          <a:lstStyle/>
          <a:p>
            <a:r>
              <a:rPr lang="en-US" dirty="0"/>
              <a:t>The Publisher</a:t>
            </a:r>
          </a:p>
          <a:p>
            <a:pPr lvl="2"/>
            <a:r>
              <a:rPr lang="en-US" dirty="0"/>
              <a:t>Focused on segmentation and personalized content to drive unique experiences for schools, library and individuals</a:t>
            </a:r>
          </a:p>
          <a:p>
            <a:pPr lvl="2"/>
            <a:r>
              <a:rPr lang="en-US" dirty="0"/>
              <a:t>Increased optimizations for subscription sign-ups and initial leads</a:t>
            </a:r>
          </a:p>
          <a:p>
            <a:pPr lvl="2"/>
            <a:r>
              <a:rPr lang="en-US" dirty="0"/>
              <a:t>More effective targeting of their vast amount of reference </a:t>
            </a:r>
            <a:r>
              <a:rPr lang="en-US" dirty="0" smtClean="0"/>
              <a:t>material</a:t>
            </a:r>
          </a:p>
          <a:p>
            <a:pPr lvl="1"/>
            <a:endParaRPr lang="en-US" dirty="0"/>
          </a:p>
          <a:p>
            <a:r>
              <a:rPr lang="en-US" dirty="0"/>
              <a:t>The Association</a:t>
            </a:r>
          </a:p>
          <a:p>
            <a:pPr lvl="2"/>
            <a:r>
              <a:rPr lang="en-US" dirty="0"/>
              <a:t>Target content to both their members and general public</a:t>
            </a:r>
          </a:p>
          <a:p>
            <a:pPr lvl="2"/>
            <a:r>
              <a:rPr lang="en-US" dirty="0"/>
              <a:t>Understand content consumption per </a:t>
            </a:r>
            <a:r>
              <a:rPr lang="en-US" dirty="0" smtClean="0"/>
              <a:t>segment</a:t>
            </a:r>
          </a:p>
          <a:p>
            <a:pPr lvl="2"/>
            <a:r>
              <a:rPr lang="en-US" dirty="0" smtClean="0"/>
              <a:t>Understand next best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1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CRM Integration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848276" cy="292894"/>
          </a:xfrm>
        </p:spPr>
        <p:txBody>
          <a:bodyPr/>
          <a:lstStyle/>
          <a:p>
            <a:r>
              <a:rPr lang="en-US" dirty="0" smtClean="0"/>
              <a:t>Radoslav Georgiev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APIs &amp; SDKs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848276" cy="292894"/>
          </a:xfrm>
        </p:spPr>
        <p:txBody>
          <a:bodyPr/>
          <a:lstStyle/>
          <a:p>
            <a:r>
              <a:rPr lang="en-US" dirty="0" smtClean="0"/>
              <a:t>Seth Cleaver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Digital Experience Cloud Integration Points</a:t>
            </a:r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28613" y="1350168"/>
            <a:ext cx="8503444" cy="3270469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SDK Documentation: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				</a:t>
            </a:r>
            <a:r>
              <a:rPr lang="fr-FR" sz="2000" dirty="0" smtClean="0">
                <a:hlinkClick r:id="rId2"/>
              </a:rPr>
              <a:t>http</a:t>
            </a:r>
            <a:r>
              <a:rPr lang="fr-FR" sz="2000" dirty="0">
                <a:hlinkClick r:id="rId2"/>
              </a:rPr>
              <a:t>://docs.sitefinity.com/dec/track-data---</a:t>
            </a:r>
            <a:r>
              <a:rPr lang="fr-FR" sz="2000" dirty="0" smtClean="0">
                <a:hlinkClick r:id="rId2"/>
              </a:rPr>
              <a:t>deep-dive</a:t>
            </a:r>
            <a:endParaRPr lang="fr-FR" sz="2000" dirty="0" smtClean="0"/>
          </a:p>
          <a:p>
            <a:pPr indent="0">
              <a:buNone/>
            </a:pPr>
            <a:endParaRPr lang="fr-FR" sz="2000" dirty="0"/>
          </a:p>
          <a:p>
            <a:r>
              <a:rPr lang="fr-FR" dirty="0" smtClean="0"/>
              <a:t>REST API – </a:t>
            </a:r>
            <a:r>
              <a:rPr lang="fr-FR" dirty="0" err="1" smtClean="0"/>
              <a:t>Interacts</a:t>
            </a:r>
            <a:r>
              <a:rPr lang="fr-FR" dirty="0" smtClean="0"/>
              <a:t> </a:t>
            </a:r>
            <a:r>
              <a:rPr lang="fr-FR" dirty="0" err="1" smtClean="0"/>
              <a:t>directly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the DEC</a:t>
            </a:r>
          </a:p>
          <a:p>
            <a:r>
              <a:rPr lang="fr-FR" dirty="0" smtClean="0"/>
              <a:t>C# SDK</a:t>
            </a:r>
            <a:endParaRPr lang="fr-FR" dirty="0"/>
          </a:p>
          <a:p>
            <a:pPr marL="720725" lvl="1" indent="171450"/>
            <a:r>
              <a:rPr lang="fr-FR" dirty="0" smtClean="0"/>
              <a:t>Server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integration</a:t>
            </a:r>
            <a:endParaRPr lang="fr-FR" dirty="0"/>
          </a:p>
          <a:p>
            <a:pPr marL="720725" lvl="1" indent="171450"/>
            <a:r>
              <a:rPr lang="fr-FR" dirty="0" err="1" smtClean="0"/>
              <a:t>Retrieve</a:t>
            </a:r>
            <a:r>
              <a:rPr lang="fr-FR" dirty="0" smtClean="0"/>
              <a:t> </a:t>
            </a:r>
            <a:r>
              <a:rPr lang="fr-FR" dirty="0" err="1" smtClean="0"/>
              <a:t>analyzed</a:t>
            </a:r>
            <a:r>
              <a:rPr lang="fr-FR" dirty="0" smtClean="0"/>
              <a:t> data</a:t>
            </a:r>
          </a:p>
          <a:p>
            <a:r>
              <a:rPr lang="fr-FR" dirty="0" smtClean="0"/>
              <a:t>JavaScript SDK</a:t>
            </a:r>
            <a:endParaRPr lang="fr-FR" dirty="0"/>
          </a:p>
          <a:p>
            <a:pPr marL="720725" lvl="1" indent="171450"/>
            <a:r>
              <a:rPr lang="fr-FR" dirty="0" smtClean="0"/>
              <a:t>Client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integration</a:t>
            </a:r>
            <a:r>
              <a:rPr lang="fr-FR" dirty="0" smtClean="0"/>
              <a:t> </a:t>
            </a:r>
            <a:endParaRPr lang="fr-FR" dirty="0"/>
          </a:p>
          <a:p>
            <a:pPr marL="720725" lvl="1" indent="171450"/>
            <a:r>
              <a:rPr lang="fr-FR" dirty="0" smtClean="0"/>
              <a:t>HTML5 instrumentation </a:t>
            </a:r>
            <a:endParaRPr lang="fr-FR" dirty="0"/>
          </a:p>
          <a:p>
            <a:pPr marL="87313" indent="0">
              <a:buNone/>
              <a:tabLst>
                <a:tab pos="87313" algn="l"/>
              </a:tabLst>
            </a:pPr>
            <a:endParaRPr lang="fr-FR" dirty="0" smtClean="0"/>
          </a:p>
          <a:p>
            <a:pPr marL="720725" lvl="1" indent="17145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426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JavaScript </a:t>
            </a:r>
            <a:r>
              <a:rPr lang="en-AU" dirty="0" smtClean="0"/>
              <a:t>SDK</a:t>
            </a:r>
            <a:endParaRPr lang="en-AU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47" y="1824880"/>
            <a:ext cx="8029575" cy="2562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90" y="4454478"/>
            <a:ext cx="7477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60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JavaScript </a:t>
            </a:r>
            <a:r>
              <a:rPr lang="en-AU" dirty="0" smtClean="0"/>
              <a:t>SDK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AU" sz="2000" dirty="0" smtClean="0"/>
              <a:t>Tracking Subject</a:t>
            </a:r>
            <a:br>
              <a:rPr lang="en-AU" sz="2000" dirty="0" smtClean="0"/>
            </a:br>
            <a:r>
              <a:rPr lang="en-AU" sz="2000" dirty="0" smtClean="0"/>
              <a:t>Metadata</a:t>
            </a:r>
          </a:p>
          <a:p>
            <a:pPr indent="0">
              <a:buNone/>
            </a:pPr>
            <a:endParaRPr lang="en-AU" sz="2000" dirty="0"/>
          </a:p>
          <a:p>
            <a:endParaRPr lang="en-AU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193" y="651807"/>
            <a:ext cx="56673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695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Question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8613" y="3678144"/>
            <a:ext cx="3848276" cy="292894"/>
          </a:xfrm>
        </p:spPr>
        <p:txBody>
          <a:bodyPr/>
          <a:lstStyle/>
          <a:p>
            <a:r>
              <a:rPr lang="en-US" dirty="0" smtClean="0"/>
              <a:t>Radoslav Georgiev</a:t>
            </a:r>
            <a:r>
              <a:rPr lang="en-US" dirty="0"/>
              <a:t>, Tim Ahlenius </a:t>
            </a:r>
            <a:r>
              <a:rPr lang="en-US" dirty="0" smtClean="0"/>
              <a:t>&amp; Seth Cleaver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3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Thanks for Attending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Session feedback:</a:t>
            </a:r>
          </a:p>
          <a:p>
            <a:pPr indent="0">
              <a:buNone/>
            </a:pPr>
            <a:r>
              <a:rPr lang="en-AU" dirty="0" smtClean="0">
                <a:hlinkClick r:id="rId2"/>
              </a:rPr>
              <a:t>http://bit.ly/next-cleaver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AU" dirty="0" smtClean="0"/>
              <a:t>Twitter</a:t>
            </a:r>
          </a:p>
          <a:p>
            <a:pPr lvl="1"/>
            <a:r>
              <a:rPr lang="en-AU" dirty="0" smtClean="0"/>
              <a:t>@</a:t>
            </a:r>
            <a:r>
              <a:rPr lang="en-AU" dirty="0" err="1" smtClean="0"/>
              <a:t>sethcleaver</a:t>
            </a:r>
            <a:endParaRPr lang="en-AU" dirty="0" smtClean="0"/>
          </a:p>
          <a:p>
            <a:pPr lvl="1"/>
            <a:r>
              <a:rPr lang="en-AU" dirty="0" smtClean="0"/>
              <a:t>@</a:t>
            </a:r>
            <a:r>
              <a:rPr lang="en-AU" dirty="0" err="1" smtClean="0"/>
              <a:t>georgievrado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46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">
  <a:themeElements>
    <a:clrScheme name="Telerik 3.0 New Brand">
      <a:dk1>
        <a:srgbClr val="2A2D33"/>
      </a:dk1>
      <a:lt1>
        <a:srgbClr val="FFFFFF"/>
      </a:lt1>
      <a:dk2>
        <a:srgbClr val="384361"/>
      </a:dk2>
      <a:lt2>
        <a:srgbClr val="E1E5EA"/>
      </a:lt2>
      <a:accent1>
        <a:srgbClr val="E73039"/>
      </a:accent1>
      <a:accent2>
        <a:srgbClr val="FF8800"/>
      </a:accent2>
      <a:accent3>
        <a:srgbClr val="FFD73F"/>
      </a:accent3>
      <a:accent4>
        <a:srgbClr val="5DC62E"/>
      </a:accent4>
      <a:accent5>
        <a:srgbClr val="009B55"/>
      </a:accent5>
      <a:accent6>
        <a:srgbClr val="3CD5ED"/>
      </a:accent6>
      <a:hlink>
        <a:srgbClr val="0099CC"/>
      </a:hlink>
      <a:folHlink>
        <a:srgbClr val="9149B6"/>
      </a:folHlink>
    </a:clrScheme>
    <a:fontScheme name="Telerik Fonts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rikGlobalGathering" id="{7E85FF9B-8877-49BD-BF1B-DBAE84329A25}" vid="{14ED4DDA-1649-4FE2-8BAA-9DDDE833FA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11286</TotalTime>
  <Words>373</Words>
  <Application>Microsoft Office PowerPoint</Application>
  <PresentationFormat>On-screen Show (16:9)</PresentationFormat>
  <Paragraphs>118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FontAwesome</vt:lpstr>
      <vt:lpstr>Lato</vt:lpstr>
      <vt:lpstr>Lato Black</vt:lpstr>
      <vt:lpstr>Open Sans</vt:lpstr>
      <vt:lpstr>Open Sans Light</vt:lpstr>
      <vt:lpstr>Roboto</vt:lpstr>
      <vt:lpstr>Wingdings</vt:lpstr>
      <vt:lpstr>Telerik</vt:lpstr>
      <vt:lpstr>Cross-Channel Data Integration with Digital Experience Cloud</vt:lpstr>
      <vt:lpstr>Session Agenda</vt:lpstr>
      <vt:lpstr>Session Agenda</vt:lpstr>
      <vt:lpstr>Digital Experience Cloud Objectives</vt:lpstr>
      <vt:lpstr>PowerPoint Presentation</vt:lpstr>
      <vt:lpstr>Channels</vt:lpstr>
      <vt:lpstr>Objectives</vt:lpstr>
      <vt:lpstr>The New CMS Requirements</vt:lpstr>
      <vt:lpstr>PowerPoint Presentation</vt:lpstr>
      <vt:lpstr>Personalization Is In All Channels</vt:lpstr>
      <vt:lpstr>PowerPoint Presentation</vt:lpstr>
      <vt:lpstr>Business Challenges for Digital Marketers</vt:lpstr>
      <vt:lpstr>Benefits of Personalization</vt:lpstr>
      <vt:lpstr>Personalization</vt:lpstr>
      <vt:lpstr>The Road to Personalization</vt:lpstr>
      <vt:lpstr>Personalization – Bridging the Gap</vt:lpstr>
      <vt:lpstr>What are the top 3 recommendations for clients?</vt:lpstr>
      <vt:lpstr>What’s the process to introduce the Digital Experience Cloud?</vt:lpstr>
      <vt:lpstr>Examples of the Sitefinity Digital Experience Cloud</vt:lpstr>
      <vt:lpstr>CRM Integration</vt:lpstr>
      <vt:lpstr>APIs &amp; SDKs</vt:lpstr>
      <vt:lpstr>Digital Experience Cloud Integration Points</vt:lpstr>
      <vt:lpstr>JavaScript SDK</vt:lpstr>
      <vt:lpstr>JavaScript SDK</vt:lpstr>
      <vt:lpstr>Question Time</vt:lpstr>
      <vt:lpstr>Thanks for Attending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Polya Vassileva</dc:creator>
  <cp:lastModifiedBy>Seth Cleaver</cp:lastModifiedBy>
  <cp:revision>241</cp:revision>
  <dcterms:created xsi:type="dcterms:W3CDTF">2013-04-11T08:37:24Z</dcterms:created>
  <dcterms:modified xsi:type="dcterms:W3CDTF">2015-05-05T15:43:57Z</dcterms:modified>
</cp:coreProperties>
</file>